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88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2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2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13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8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34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26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8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49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3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1121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810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8068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75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57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24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2C69E-C371-4448-B83F-C63FB5D5F65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158881-B6CD-4BFE-8F31-AED06C3D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2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C8CD-0995-1C72-C54F-2DC0A830B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" y="247292"/>
            <a:ext cx="11857703" cy="310550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Smart Billboard Advertising Ecosystem</a:t>
            </a:r>
            <a:br>
              <a:rPr lang="en-IN" b="1" dirty="0"/>
            </a:br>
            <a:r>
              <a:rPr lang="en-US" sz="3600" dirty="0"/>
              <a:t>INFO 5100 – Application Engineering &amp; Development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BD500-4946-FE0A-7B90-6352AF75D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3879"/>
            <a:ext cx="9399639" cy="2975743"/>
          </a:xfrm>
        </p:spPr>
        <p:txBody>
          <a:bodyPr/>
          <a:lstStyle/>
          <a:p>
            <a:r>
              <a:rPr lang="en-IN" sz="2800" b="1" dirty="0"/>
              <a:t>Technology used</a:t>
            </a:r>
          </a:p>
          <a:p>
            <a:r>
              <a:rPr lang="en-IN" dirty="0"/>
              <a:t>Java Swing UI</a:t>
            </a:r>
          </a:p>
          <a:p>
            <a:r>
              <a:rPr lang="en-IN" dirty="0"/>
              <a:t>DB40 Persistence</a:t>
            </a:r>
          </a:p>
          <a:p>
            <a:r>
              <a:rPr lang="en-IN" dirty="0"/>
              <a:t>Object-Oriented Design</a:t>
            </a:r>
          </a:p>
          <a:p>
            <a:r>
              <a:rPr lang="en-IN" dirty="0"/>
              <a:t>UML &amp; Enterprise </a:t>
            </a:r>
            <a:r>
              <a:rPr lang="en-IN" dirty="0" err="1"/>
              <a:t>Modeling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5A432-64B2-C4D4-9374-14B7BFAFFBA5}"/>
              </a:ext>
            </a:extLst>
          </p:cNvPr>
          <p:cNvSpPr txBox="1"/>
          <p:nvPr/>
        </p:nvSpPr>
        <p:spPr>
          <a:xfrm>
            <a:off x="68826" y="5370958"/>
            <a:ext cx="3883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By:</a:t>
            </a:r>
          </a:p>
          <a:p>
            <a:r>
              <a:rPr lang="en-US" dirty="0"/>
              <a:t>Preksha Praveen</a:t>
            </a:r>
          </a:p>
          <a:p>
            <a:r>
              <a:rPr lang="en-US" dirty="0"/>
              <a:t>Manav Shah </a:t>
            </a:r>
          </a:p>
          <a:p>
            <a:r>
              <a:rPr lang="en-US" dirty="0" err="1"/>
              <a:t>Hiteshi</a:t>
            </a:r>
            <a:r>
              <a:rPr lang="en-US" dirty="0"/>
              <a:t> </a:t>
            </a:r>
            <a:r>
              <a:rPr lang="en-US" dirty="0" err="1"/>
              <a:t>Kawadia</a:t>
            </a:r>
            <a:endParaRPr lang="en-US" dirty="0"/>
          </a:p>
          <a:p>
            <a:r>
              <a:rPr lang="en-US" dirty="0"/>
              <a:t>Jayashree Muniyappa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41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E9A4-1CCF-03FA-11AA-8324F48E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D758-19D3-C8AC-CBE1-F0D34831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9982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Current Industry Challenges</a:t>
            </a:r>
            <a:endParaRPr lang="en-IN" dirty="0"/>
          </a:p>
          <a:p>
            <a:r>
              <a:rPr lang="en-US" dirty="0"/>
              <a:t>Billboard advertising involves </a:t>
            </a:r>
            <a:r>
              <a:rPr lang="en-US" b="1" dirty="0"/>
              <a:t>multiple independent stakeholders</a:t>
            </a:r>
            <a:endParaRPr lang="en-US" dirty="0"/>
          </a:p>
          <a:p>
            <a:r>
              <a:rPr lang="en-US" dirty="0"/>
              <a:t>Manual coordination between:</a:t>
            </a:r>
          </a:p>
          <a:p>
            <a:pPr lvl="1"/>
            <a:r>
              <a:rPr lang="en-US" dirty="0"/>
              <a:t>Advertising Agencies</a:t>
            </a:r>
          </a:p>
          <a:p>
            <a:pPr lvl="1"/>
            <a:r>
              <a:rPr lang="en-US" dirty="0"/>
              <a:t>Billboard Operators</a:t>
            </a:r>
          </a:p>
          <a:p>
            <a:pPr lvl="1"/>
            <a:r>
              <a:rPr lang="en-US" dirty="0"/>
              <a:t>City Authorities</a:t>
            </a:r>
          </a:p>
          <a:p>
            <a:pPr lvl="1"/>
            <a:r>
              <a:rPr lang="en-US" dirty="0"/>
              <a:t>Power Utilities</a:t>
            </a:r>
          </a:p>
          <a:p>
            <a:r>
              <a:rPr lang="en-US" dirty="0"/>
              <a:t>Leads to delays, errors, and poor visibility</a:t>
            </a:r>
          </a:p>
          <a:p>
            <a:pPr marL="0" indent="0">
              <a:buNone/>
            </a:pPr>
            <a:r>
              <a:rPr lang="en-US" b="1" dirty="0"/>
              <a:t>Objective</a:t>
            </a:r>
            <a:br>
              <a:rPr lang="en-US" dirty="0"/>
            </a:br>
            <a:r>
              <a:rPr lang="en-US" dirty="0"/>
              <a:t>Design a </a:t>
            </a:r>
            <a:r>
              <a:rPr lang="en-US" b="1" dirty="0"/>
              <a:t>centralized, role-based system</a:t>
            </a:r>
            <a:r>
              <a:rPr lang="en-US" dirty="0"/>
              <a:t> that enables structured coordination between independent enterprises.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09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0405-CB52-D82B-5F38-DC86EE4C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High-Level Ecosystem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8D21-9E10-3EDA-1603-C112A5767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8977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Architecture</a:t>
            </a:r>
            <a:endParaRPr lang="en-IN" dirty="0"/>
          </a:p>
          <a:p>
            <a:r>
              <a:rPr lang="en-IN" dirty="0" err="1"/>
              <a:t>EcoSystem</a:t>
            </a:r>
            <a:endParaRPr lang="en-IN" dirty="0"/>
          </a:p>
          <a:p>
            <a:r>
              <a:rPr lang="en-IN" dirty="0"/>
              <a:t>Network</a:t>
            </a:r>
          </a:p>
          <a:p>
            <a:r>
              <a:rPr lang="en-IN" dirty="0"/>
              <a:t>Enterprise</a:t>
            </a:r>
          </a:p>
          <a:p>
            <a:r>
              <a:rPr lang="en-IN" dirty="0"/>
              <a:t>Organization</a:t>
            </a:r>
          </a:p>
          <a:p>
            <a:r>
              <a:rPr lang="en-IN" dirty="0" err="1"/>
              <a:t>UserAccount</a:t>
            </a:r>
            <a:r>
              <a:rPr lang="en-IN" dirty="0"/>
              <a:t> &amp; Role</a:t>
            </a:r>
          </a:p>
          <a:p>
            <a:r>
              <a:rPr lang="en-IN" b="1" dirty="0"/>
              <a:t>Implemented Enterprises</a:t>
            </a:r>
            <a:endParaRPr lang="en-IN" dirty="0"/>
          </a:p>
          <a:p>
            <a:r>
              <a:rPr lang="en-IN" dirty="0"/>
              <a:t>SkyViewBillboardEnterprise</a:t>
            </a:r>
          </a:p>
          <a:p>
            <a:r>
              <a:rPr lang="en-IN" dirty="0" err="1"/>
              <a:t>AdAgencyEnterprise</a:t>
            </a:r>
            <a:endParaRPr lang="en-IN" dirty="0"/>
          </a:p>
          <a:p>
            <a:r>
              <a:rPr lang="en-IN" dirty="0" err="1"/>
              <a:t>CityServicesEnterprise</a:t>
            </a:r>
            <a:endParaRPr lang="en-IN" dirty="0"/>
          </a:p>
          <a:p>
            <a:r>
              <a:rPr lang="en-IN" dirty="0" err="1"/>
              <a:t>PowerUtilityEnterprise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54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0659-0795-7B08-478A-5D04AB6F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221227"/>
            <a:ext cx="10515600" cy="1325563"/>
          </a:xfrm>
        </p:spPr>
        <p:txBody>
          <a:bodyPr/>
          <a:lstStyle/>
          <a:p>
            <a:r>
              <a:rPr lang="en-IN" b="1" dirty="0"/>
              <a:t>High-Level Component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1D30BD-89BB-6851-CB05-E8D9C06F5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7" y="1116242"/>
            <a:ext cx="6020474" cy="5520531"/>
          </a:xfrm>
        </p:spPr>
      </p:pic>
    </p:spTree>
    <p:extLst>
      <p:ext uri="{BB962C8B-B14F-4D97-AF65-F5344CB8AC3E}">
        <p14:creationId xmlns:p14="http://schemas.microsoft.com/office/powerpoint/2010/main" val="312723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4998-F349-AACE-6866-267D4780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Roles &amp; Login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CCB9F-D6AD-D41D-4A17-87F8D7B38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5342"/>
            <a:ext cx="10744200" cy="4731621"/>
          </a:xfrm>
        </p:spPr>
        <p:txBody>
          <a:bodyPr>
            <a:normAutofit fontScale="40000" lnSpcReduction="20000"/>
          </a:bodyPr>
          <a:lstStyle/>
          <a:p>
            <a:r>
              <a:rPr lang="en-IN" sz="2500" b="1" dirty="0"/>
              <a:t>Admin Roles</a:t>
            </a:r>
            <a:endParaRPr lang="en-IN" sz="2500" dirty="0"/>
          </a:p>
          <a:p>
            <a:r>
              <a:rPr lang="en-IN" sz="2500" dirty="0" err="1"/>
              <a:t>SystemAdminRole</a:t>
            </a:r>
            <a:endParaRPr lang="en-IN" sz="2500" dirty="0"/>
          </a:p>
          <a:p>
            <a:r>
              <a:rPr lang="en-IN" sz="2500" dirty="0"/>
              <a:t>Enterprise Admins (per enterprise)</a:t>
            </a:r>
          </a:p>
          <a:p>
            <a:r>
              <a:rPr lang="en-IN" sz="2500" b="1" dirty="0"/>
              <a:t>Business Roles (10)</a:t>
            </a:r>
            <a:endParaRPr lang="en-IN" sz="2500" dirty="0"/>
          </a:p>
          <a:p>
            <a:r>
              <a:rPr lang="en-IN" sz="2500" b="1" dirty="0"/>
              <a:t>Billboard:</a:t>
            </a:r>
          </a:p>
          <a:p>
            <a:pPr lvl="1"/>
            <a:r>
              <a:rPr lang="en-IN" sz="2500" dirty="0" err="1"/>
              <a:t>BillboardSalesManagerRole</a:t>
            </a:r>
            <a:endParaRPr lang="en-IN" sz="2500" dirty="0"/>
          </a:p>
          <a:p>
            <a:pPr lvl="1"/>
            <a:r>
              <a:rPr lang="en-IN" sz="2500" dirty="0" err="1"/>
              <a:t>BillboardOperationsManagerRole</a:t>
            </a:r>
            <a:endParaRPr lang="en-IN" sz="2500" dirty="0"/>
          </a:p>
          <a:p>
            <a:r>
              <a:rPr lang="en-IN" sz="2500" b="1" dirty="0"/>
              <a:t>Agency:</a:t>
            </a:r>
          </a:p>
          <a:p>
            <a:pPr lvl="1"/>
            <a:r>
              <a:rPr lang="en-IN" sz="2500" dirty="0" err="1"/>
              <a:t>AgencyAccountManagerRole</a:t>
            </a:r>
            <a:endParaRPr lang="en-IN" sz="2500" dirty="0"/>
          </a:p>
          <a:p>
            <a:pPr lvl="1"/>
            <a:r>
              <a:rPr lang="en-IN" sz="2500" dirty="0" err="1"/>
              <a:t>CampaignPlannerRole</a:t>
            </a:r>
            <a:endParaRPr lang="en-IN" sz="2500" dirty="0"/>
          </a:p>
          <a:p>
            <a:pPr lvl="1"/>
            <a:r>
              <a:rPr lang="en-IN" sz="2500" dirty="0" err="1"/>
              <a:t>BrandMarketingManagerRole</a:t>
            </a:r>
            <a:endParaRPr lang="en-IN" sz="2500" dirty="0"/>
          </a:p>
          <a:p>
            <a:r>
              <a:rPr lang="en-IN" sz="2500" b="1" dirty="0"/>
              <a:t>City Services:</a:t>
            </a:r>
          </a:p>
          <a:p>
            <a:pPr lvl="1"/>
            <a:r>
              <a:rPr lang="en-IN" sz="2500" dirty="0" err="1"/>
              <a:t>CityPermitOfficerRole</a:t>
            </a:r>
            <a:endParaRPr lang="en-IN" sz="2500" dirty="0"/>
          </a:p>
          <a:p>
            <a:pPr lvl="1"/>
            <a:r>
              <a:rPr lang="en-IN" sz="2500" dirty="0" err="1"/>
              <a:t>CityComplianceInspectorRole</a:t>
            </a:r>
            <a:endParaRPr lang="en-IN" sz="2500" dirty="0"/>
          </a:p>
          <a:p>
            <a:r>
              <a:rPr lang="en-IN" sz="2500" b="1" dirty="0"/>
              <a:t>Power Utility:</a:t>
            </a:r>
          </a:p>
          <a:p>
            <a:pPr lvl="1"/>
            <a:r>
              <a:rPr lang="en-IN" sz="2500" dirty="0" err="1"/>
              <a:t>PowerGridCoordinatorRole</a:t>
            </a:r>
            <a:endParaRPr lang="en-IN" sz="2500" dirty="0"/>
          </a:p>
          <a:p>
            <a:pPr lvl="1"/>
            <a:r>
              <a:rPr lang="en-IN" sz="2500" dirty="0" err="1"/>
              <a:t>FieldMaintenanceEngineerRole</a:t>
            </a:r>
            <a:endParaRPr lang="en-IN" sz="2500" dirty="0"/>
          </a:p>
          <a:p>
            <a:pPr lvl="1"/>
            <a:r>
              <a:rPr lang="en-IN" sz="2500" dirty="0" err="1"/>
              <a:t>SafetyCheckOfficerRole</a:t>
            </a:r>
            <a:endParaRPr lang="en-IN" sz="2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6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27BF-003B-858A-74ED-930BD62D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/>
          <a:lstStyle/>
          <a:p>
            <a:r>
              <a:rPr lang="en-IN" dirty="0"/>
              <a:t>UML Class Diagram </a:t>
            </a:r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B889E2FF-88D2-0E1F-59FD-8CB71FF55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52" y="797452"/>
            <a:ext cx="11130690" cy="57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1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20EC-BF29-27D2-3426-1BE535C2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WorkRequest</a:t>
            </a:r>
            <a:r>
              <a:rPr lang="en-IN" dirty="0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1352-5D1A-F436-B157-B0DC4B72E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79" y="1488613"/>
            <a:ext cx="8596668" cy="3880773"/>
          </a:xfrm>
        </p:spPr>
        <p:txBody>
          <a:bodyPr>
            <a:normAutofit fontScale="25000" lnSpcReduction="20000"/>
          </a:bodyPr>
          <a:lstStyle/>
          <a:p>
            <a:r>
              <a:rPr lang="en-IN" sz="6200" b="1" dirty="0"/>
              <a:t>Abstract Class</a:t>
            </a:r>
            <a:br>
              <a:rPr lang="en-IN" sz="6200" dirty="0"/>
            </a:br>
            <a:r>
              <a:rPr lang="en-IN" sz="6200" dirty="0" err="1"/>
              <a:t>WorkRequest</a:t>
            </a:r>
            <a:endParaRPr lang="en-IN" sz="6200" dirty="0"/>
          </a:p>
          <a:p>
            <a:r>
              <a:rPr lang="en-IN" sz="6200" dirty="0"/>
              <a:t>sender</a:t>
            </a:r>
          </a:p>
          <a:p>
            <a:r>
              <a:rPr lang="en-IN" sz="6200" dirty="0"/>
              <a:t>receiver</a:t>
            </a:r>
          </a:p>
          <a:p>
            <a:r>
              <a:rPr lang="en-IN" sz="6200" dirty="0"/>
              <a:t>status</a:t>
            </a:r>
          </a:p>
          <a:p>
            <a:r>
              <a:rPr lang="en-IN" sz="6200" dirty="0" err="1"/>
              <a:t>requestDate</a:t>
            </a:r>
            <a:endParaRPr lang="en-IN" sz="6200" dirty="0"/>
          </a:p>
          <a:p>
            <a:r>
              <a:rPr lang="en-IN" sz="6200" dirty="0"/>
              <a:t>message</a:t>
            </a:r>
          </a:p>
          <a:p>
            <a:r>
              <a:rPr lang="en-IN" sz="6200" b="1" dirty="0"/>
              <a:t>Implemented Requests</a:t>
            </a:r>
            <a:endParaRPr lang="en-IN" sz="6200" dirty="0"/>
          </a:p>
          <a:p>
            <a:r>
              <a:rPr lang="en-IN" sz="6200" dirty="0" err="1"/>
              <a:t>CampaignBookingRequest</a:t>
            </a:r>
            <a:endParaRPr lang="en-IN" sz="6200" dirty="0"/>
          </a:p>
          <a:p>
            <a:r>
              <a:rPr lang="en-IN" sz="6200" dirty="0" err="1"/>
              <a:t>BoardSelectionRequest</a:t>
            </a:r>
            <a:endParaRPr lang="en-IN" sz="6200" dirty="0"/>
          </a:p>
          <a:p>
            <a:r>
              <a:rPr lang="en-IN" sz="6200" dirty="0" err="1"/>
              <a:t>PermitRequest</a:t>
            </a:r>
            <a:endParaRPr lang="en-IN" sz="6200" dirty="0"/>
          </a:p>
          <a:p>
            <a:r>
              <a:rPr lang="en-IN" sz="6200" dirty="0" err="1"/>
              <a:t>ComplianceInspectionRequest</a:t>
            </a:r>
            <a:endParaRPr lang="en-IN" sz="6200" dirty="0"/>
          </a:p>
          <a:p>
            <a:r>
              <a:rPr lang="en-IN" sz="6200" dirty="0" err="1"/>
              <a:t>MaintenanceRequest</a:t>
            </a:r>
            <a:endParaRPr lang="en-IN" sz="6200" dirty="0"/>
          </a:p>
          <a:p>
            <a:r>
              <a:rPr lang="en-IN" sz="6200" dirty="0" err="1"/>
              <a:t>PowerIssueRequest</a:t>
            </a:r>
            <a:endParaRPr lang="en-IN" sz="6200" dirty="0"/>
          </a:p>
          <a:p>
            <a:r>
              <a:rPr lang="en-IN" sz="6200" dirty="0" err="1"/>
              <a:t>FieldEngineerAssignmentRequest</a:t>
            </a:r>
            <a:endParaRPr lang="en-IN" sz="6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428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66D5-FE0E-B08E-4555-166D4826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Workflow Example: Campaign Booking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4D28-141D-5FCB-5AD2-E31B7C92C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3337"/>
            <a:ext cx="8596668" cy="3880773"/>
          </a:xfrm>
        </p:spPr>
        <p:txBody>
          <a:bodyPr/>
          <a:lstStyle/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Brand Marketing Manager requests a campaign</a:t>
            </a:r>
          </a:p>
          <a:p>
            <a:r>
              <a:rPr lang="en-US" dirty="0"/>
              <a:t>Agency Account Manager submits </a:t>
            </a:r>
            <a:r>
              <a:rPr lang="en-US" dirty="0" err="1"/>
              <a:t>CampaignBookingRequest</a:t>
            </a:r>
            <a:endParaRPr lang="en-US" dirty="0"/>
          </a:p>
          <a:p>
            <a:r>
              <a:rPr lang="en-US" dirty="0"/>
              <a:t>Billboard Sales Manager reviews availability</a:t>
            </a:r>
          </a:p>
          <a:p>
            <a:r>
              <a:rPr lang="en-US" dirty="0"/>
              <a:t>If approved → </a:t>
            </a:r>
            <a:r>
              <a:rPr lang="en-US" dirty="0" err="1"/>
              <a:t>PermitRequest</a:t>
            </a:r>
            <a:r>
              <a:rPr lang="en-US" dirty="0"/>
              <a:t> sent to City Services</a:t>
            </a:r>
          </a:p>
          <a:p>
            <a:r>
              <a:rPr lang="en-US" dirty="0"/>
              <a:t>City Permit Officer approves → campaign activated</a:t>
            </a:r>
          </a:p>
          <a:p>
            <a:r>
              <a:rPr lang="en-US" b="1" dirty="0"/>
              <a:t>Enterprises Involved</a:t>
            </a:r>
            <a:br>
              <a:rPr lang="en-US" dirty="0"/>
            </a:br>
            <a:r>
              <a:rPr lang="en-US" dirty="0"/>
              <a:t>Ad Agency → Billboard → City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84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A7F4-3B6F-E6D1-0138-A86665A7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Example: Power &amp;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C618-7266-F421-4642-961788DEE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End-to-End Flow</a:t>
            </a:r>
            <a:endParaRPr lang="en-US" dirty="0"/>
          </a:p>
          <a:p>
            <a:r>
              <a:rPr lang="en-US" dirty="0"/>
              <a:t>Billboard Operations Manager detects issue</a:t>
            </a:r>
          </a:p>
          <a:p>
            <a:r>
              <a:rPr lang="en-US" dirty="0"/>
              <a:t>Creates </a:t>
            </a:r>
            <a:r>
              <a:rPr lang="en-US" dirty="0" err="1"/>
              <a:t>PowerIssueRequest</a:t>
            </a:r>
            <a:endParaRPr lang="en-US" dirty="0"/>
          </a:p>
          <a:p>
            <a:r>
              <a:rPr lang="en-US" dirty="0"/>
              <a:t>Power Grid Coordinator assigns engineer</a:t>
            </a:r>
          </a:p>
          <a:p>
            <a:r>
              <a:rPr lang="en-US" dirty="0"/>
              <a:t>Field Engineer resolves issue</a:t>
            </a:r>
          </a:p>
          <a:p>
            <a:r>
              <a:rPr lang="en-US" dirty="0"/>
              <a:t>Status updated across the ecosystem</a:t>
            </a:r>
          </a:p>
          <a:p>
            <a:r>
              <a:rPr lang="en-US" b="1" dirty="0"/>
              <a:t>Enterprises Involved</a:t>
            </a:r>
            <a:br>
              <a:rPr lang="en-US" dirty="0"/>
            </a:br>
            <a:r>
              <a:rPr lang="en-US" dirty="0"/>
              <a:t>Billboard → Power Utility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13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1D9C-ED0C-7FB3-CC1B-B7B72886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Features, Demo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8DE74-387E-8AEC-D001-ECA2AF994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07440" cy="4509064"/>
          </a:xfrm>
        </p:spPr>
        <p:txBody>
          <a:bodyPr>
            <a:normAutofit fontScale="32500" lnSpcReduction="20000"/>
          </a:bodyPr>
          <a:lstStyle/>
          <a:p>
            <a:r>
              <a:rPr lang="en-IN" sz="4900" b="1" dirty="0"/>
              <a:t>Advanced Features</a:t>
            </a:r>
            <a:endParaRPr lang="en-IN" sz="4900" dirty="0"/>
          </a:p>
          <a:p>
            <a:r>
              <a:rPr lang="en-IN" sz="4900" dirty="0"/>
              <a:t>Billboard waitlisting (</a:t>
            </a:r>
            <a:r>
              <a:rPr lang="en-IN" sz="4900" dirty="0" err="1"/>
              <a:t>WaitlistEntry</a:t>
            </a:r>
            <a:r>
              <a:rPr lang="en-IN" sz="4900" dirty="0"/>
              <a:t>)</a:t>
            </a:r>
          </a:p>
          <a:p>
            <a:r>
              <a:rPr lang="en-IN" sz="4900" dirty="0"/>
              <a:t>Maintenance tracking (</a:t>
            </a:r>
            <a:r>
              <a:rPr lang="en-IN" sz="4900" dirty="0" err="1"/>
              <a:t>MaintenanceRecord</a:t>
            </a:r>
            <a:r>
              <a:rPr lang="en-IN" sz="4900" dirty="0"/>
              <a:t>)</a:t>
            </a:r>
          </a:p>
          <a:p>
            <a:r>
              <a:rPr lang="en-IN" sz="4900" dirty="0"/>
              <a:t>Compliance inspections</a:t>
            </a:r>
          </a:p>
          <a:p>
            <a:r>
              <a:rPr lang="en-IN" sz="4900" dirty="0"/>
              <a:t>Role-based dashboards</a:t>
            </a:r>
          </a:p>
          <a:p>
            <a:r>
              <a:rPr lang="en-IN" sz="4900" dirty="0"/>
              <a:t>Validations (</a:t>
            </a:r>
            <a:r>
              <a:rPr lang="en-IN" sz="4900" dirty="0" err="1"/>
              <a:t>ValidationUtils</a:t>
            </a:r>
            <a:r>
              <a:rPr lang="en-IN" sz="4900" dirty="0"/>
              <a:t>)</a:t>
            </a:r>
          </a:p>
          <a:p>
            <a:r>
              <a:rPr lang="en-IN" sz="4900" dirty="0"/>
              <a:t>Persistent storage (DB4O)</a:t>
            </a:r>
          </a:p>
          <a:p>
            <a:r>
              <a:rPr lang="en-IN" sz="4900" b="1" dirty="0"/>
              <a:t>Demo Plan</a:t>
            </a:r>
            <a:endParaRPr lang="en-IN" sz="4900" dirty="0"/>
          </a:p>
          <a:p>
            <a:r>
              <a:rPr lang="en-IN" sz="4900" dirty="0"/>
              <a:t>System Admin setup</a:t>
            </a:r>
          </a:p>
          <a:p>
            <a:r>
              <a:rPr lang="en-IN" sz="4900" dirty="0"/>
              <a:t>User creation</a:t>
            </a:r>
          </a:p>
          <a:p>
            <a:r>
              <a:rPr lang="en-IN" sz="4900" dirty="0"/>
              <a:t>Campaign booking flow</a:t>
            </a:r>
          </a:p>
          <a:p>
            <a:r>
              <a:rPr lang="en-IN" sz="4900" dirty="0"/>
              <a:t>Power issue resolution flow</a:t>
            </a:r>
          </a:p>
          <a:p>
            <a:r>
              <a:rPr lang="en-IN" sz="4900" b="1" dirty="0"/>
              <a:t>Conclusion</a:t>
            </a:r>
            <a:br>
              <a:rPr lang="en-IN" sz="4900" dirty="0"/>
            </a:br>
            <a:r>
              <a:rPr lang="en-IN" sz="4900" dirty="0"/>
              <a:t>A scalable, real-world, multi-enterprise system aligned with INFO 5100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0016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314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Smart Billboard Advertising Ecosystem INFO 5100 – Application Engineering &amp; Development  </vt:lpstr>
      <vt:lpstr>Problem Statement</vt:lpstr>
      <vt:lpstr>High-Level Ecosystem Design</vt:lpstr>
      <vt:lpstr>High-Level Component Diagram </vt:lpstr>
      <vt:lpstr>User Roles &amp; Login Types</vt:lpstr>
      <vt:lpstr>UML Class Diagram </vt:lpstr>
      <vt:lpstr>WorkRequest Architecture</vt:lpstr>
      <vt:lpstr>Workflow Example: Campaign Booking</vt:lpstr>
      <vt:lpstr>Workflow Example: Power &amp; Maintenance</vt:lpstr>
      <vt:lpstr>Advanced Features, Demo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 M</dc:creator>
  <cp:lastModifiedBy>Jayashree M</cp:lastModifiedBy>
  <cp:revision>3</cp:revision>
  <dcterms:created xsi:type="dcterms:W3CDTF">2025-12-07T14:14:55Z</dcterms:created>
  <dcterms:modified xsi:type="dcterms:W3CDTF">2025-12-08T04:43:22Z</dcterms:modified>
</cp:coreProperties>
</file>